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388761de884abb" /><Relationship Type="http://schemas.openxmlformats.org/officeDocument/2006/relationships/extended-properties" Target="/docProps/app.xml" Id="R14c273768e224d01" /><Relationship Type="http://schemas.openxmlformats.org/officeDocument/2006/relationships/officeDocument" Target="/ppt/presentation.xml" Id="R55975ce63eb94c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8afd30a8994929"/>
  </p:sldMasterIdLst>
  <p:notesMasterIdLst>
    <p:notesMasterId xmlns:r="http://schemas.openxmlformats.org/officeDocument/2006/relationships" r:id="Rffd5b50cc96b4534"/>
  </p:notesMasterIdLst>
  <p:sldIdLst>
    <p:sldId xmlns:r="http://schemas.openxmlformats.org/officeDocument/2006/relationships" id="256" r:id="R2db2c66b640843f3"/>
    <p:sldId xmlns:r="http://schemas.openxmlformats.org/officeDocument/2006/relationships" id="257" r:id="R9c56acc4c73d48e0"/>
    <p:sldId xmlns:r="http://schemas.openxmlformats.org/officeDocument/2006/relationships" id="258" r:id="R03655bac4a144eec"/>
    <p:sldId xmlns:r="http://schemas.openxmlformats.org/officeDocument/2006/relationships" id="259" r:id="R212488bfcd7849e8"/>
    <p:sldId xmlns:r="http://schemas.openxmlformats.org/officeDocument/2006/relationships" id="260" r:id="R779b68e7fccf4480"/>
    <p:sldId xmlns:r="http://schemas.openxmlformats.org/officeDocument/2006/relationships" id="261" r:id="R885f68be64e148af"/>
    <p:sldId xmlns:r="http://schemas.openxmlformats.org/officeDocument/2006/relationships" id="262" r:id="Rf33d7644a7e3479b"/>
    <p:sldId xmlns:r="http://schemas.openxmlformats.org/officeDocument/2006/relationships" id="263" r:id="R8bacc0b2ed25412e"/>
    <p:sldId xmlns:r="http://schemas.openxmlformats.org/officeDocument/2006/relationships" id="264" r:id="R37d79667f6044b76"/>
    <p:sldId xmlns:r="http://schemas.openxmlformats.org/officeDocument/2006/relationships" id="265" r:id="Rb286aaec7843458e"/>
    <p:sldId xmlns:r="http://schemas.openxmlformats.org/officeDocument/2006/relationships" id="266" r:id="Rd6d9cf7963c44e40"/>
    <p:sldId xmlns:r="http://schemas.openxmlformats.org/officeDocument/2006/relationships" id="267" r:id="Rfae8f23d102b4447"/>
    <p:sldId xmlns:r="http://schemas.openxmlformats.org/officeDocument/2006/relationships" id="268" r:id="R5b00b96ef55c485a"/>
    <p:sldId xmlns:r="http://schemas.openxmlformats.org/officeDocument/2006/relationships" id="269" r:id="R50892f05dc72422d"/>
    <p:sldId xmlns:r="http://schemas.openxmlformats.org/officeDocument/2006/relationships" id="270" r:id="Rd7275053f40a41b4"/>
    <p:sldId xmlns:r="http://schemas.openxmlformats.org/officeDocument/2006/relationships" id="271" r:id="R0f47f05ad58940d0"/>
    <p:sldId xmlns:r="http://schemas.openxmlformats.org/officeDocument/2006/relationships" id="272" r:id="R83346e87da2542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d7e8a48eb04444" /><Relationship Type="http://schemas.openxmlformats.org/officeDocument/2006/relationships/slideMaster" Target="/ppt/slideMasters/slideMaster1.xml" Id="Re28afd30a8994929" /><Relationship Type="http://schemas.openxmlformats.org/officeDocument/2006/relationships/notesMaster" Target="/ppt/notesMasters/notesMaster1.xml" Id="Rffd5b50cc96b4534" /><Relationship Type="http://schemas.openxmlformats.org/officeDocument/2006/relationships/presProps" Target="/ppt/presProps.xml" Id="R84ff096506714ac3" /><Relationship Type="http://schemas.openxmlformats.org/officeDocument/2006/relationships/viewProps" Target="/ppt/viewProps.xml" Id="R5092bca166fa41d3" /><Relationship Type="http://schemas.openxmlformats.org/officeDocument/2006/relationships/tableStyles" Target="/ppt/tableStyles.xml" Id="Re0d53c8e4bf741f3" /><Relationship Type="http://schemas.openxmlformats.org/officeDocument/2006/relationships/slide" Target="/ppt/slides/slide1.xml" Id="R2db2c66b640843f3" /><Relationship Type="http://schemas.openxmlformats.org/officeDocument/2006/relationships/slide" Target="/ppt/slides/slide2.xml" Id="R9c56acc4c73d48e0" /><Relationship Type="http://schemas.openxmlformats.org/officeDocument/2006/relationships/slide" Target="/ppt/slides/slide3.xml" Id="R03655bac4a144eec" /><Relationship Type="http://schemas.openxmlformats.org/officeDocument/2006/relationships/slide" Target="/ppt/slides/slide4.xml" Id="R212488bfcd7849e8" /><Relationship Type="http://schemas.openxmlformats.org/officeDocument/2006/relationships/slide" Target="/ppt/slides/slide5.xml" Id="R779b68e7fccf4480" /><Relationship Type="http://schemas.openxmlformats.org/officeDocument/2006/relationships/slide" Target="/ppt/slides/slide6.xml" Id="R885f68be64e148af" /><Relationship Type="http://schemas.openxmlformats.org/officeDocument/2006/relationships/slide" Target="/ppt/slides/slide7.xml" Id="Rf33d7644a7e3479b" /><Relationship Type="http://schemas.openxmlformats.org/officeDocument/2006/relationships/slide" Target="/ppt/slides/slide8.xml" Id="R8bacc0b2ed25412e" /><Relationship Type="http://schemas.openxmlformats.org/officeDocument/2006/relationships/slide" Target="/ppt/slides/slide9.xml" Id="R37d79667f6044b76" /><Relationship Type="http://schemas.openxmlformats.org/officeDocument/2006/relationships/slide" Target="/ppt/slides/slide10.xml" Id="Rb286aaec7843458e" /><Relationship Type="http://schemas.openxmlformats.org/officeDocument/2006/relationships/slide" Target="/ppt/slides/slide11.xml" Id="Rd6d9cf7963c44e40" /><Relationship Type="http://schemas.openxmlformats.org/officeDocument/2006/relationships/slide" Target="/ppt/slides/slide12.xml" Id="Rfae8f23d102b4447" /><Relationship Type="http://schemas.openxmlformats.org/officeDocument/2006/relationships/slide" Target="/ppt/slides/slide13.xml" Id="R5b00b96ef55c485a" /><Relationship Type="http://schemas.openxmlformats.org/officeDocument/2006/relationships/slide" Target="/ppt/slides/slide14.xml" Id="R50892f05dc72422d" /><Relationship Type="http://schemas.openxmlformats.org/officeDocument/2006/relationships/slide" Target="/ppt/slides/slide15.xml" Id="Rd7275053f40a41b4" /><Relationship Type="http://schemas.openxmlformats.org/officeDocument/2006/relationships/slide" Target="/ppt/slides/slide16.xml" Id="R0f47f05ad58940d0" /><Relationship Type="http://schemas.openxmlformats.org/officeDocument/2006/relationships/slide" Target="/ppt/slides/slide17.xml" Id="R83346e87da2542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d5e11fdc12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aa90d872ce46fc" /><Relationship Type="http://schemas.openxmlformats.org/officeDocument/2006/relationships/notesMaster" Target="/ppt/notesMasters/notesMaster1.xml" Id="R508d906f82774d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0fa21ec5b94425" /><Relationship Type="http://schemas.openxmlformats.org/officeDocument/2006/relationships/notesMaster" Target="/ppt/notesMasters/notesMaster1.xml" Id="R3b0a298fa6ca49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4256901b9841e1" /><Relationship Type="http://schemas.openxmlformats.org/officeDocument/2006/relationships/notesMaster" Target="/ppt/notesMasters/notesMaster1.xml" Id="R0968f191f1d74e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3f9034235440ad" /><Relationship Type="http://schemas.openxmlformats.org/officeDocument/2006/relationships/notesMaster" Target="/ppt/notesMasters/notesMaster1.xml" Id="R6e476d528fea48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54f9ccf00142ba" /><Relationship Type="http://schemas.openxmlformats.org/officeDocument/2006/relationships/notesMaster" Target="/ppt/notesMasters/notesMaster1.xml" Id="R7294cccc3eb84f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e8d94a2261444a" /><Relationship Type="http://schemas.openxmlformats.org/officeDocument/2006/relationships/notesMaster" Target="/ppt/notesMasters/notesMaster1.xml" Id="Rfb97900968294f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c1538c300041ac" /><Relationship Type="http://schemas.openxmlformats.org/officeDocument/2006/relationships/notesMaster" Target="/ppt/notesMasters/notesMaster1.xml" Id="R46269f70184c40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a9b7ab280d4fa3" /><Relationship Type="http://schemas.openxmlformats.org/officeDocument/2006/relationships/notesMaster" Target="/ppt/notesMasters/notesMaster1.xml" Id="R74b47b74212d4ff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4f4596c3a94836" /><Relationship Type="http://schemas.openxmlformats.org/officeDocument/2006/relationships/notesMaster" Target="/ppt/notesMasters/notesMaster1.xml" Id="R48679f89b4d144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b7b751a8ea49cd" /><Relationship Type="http://schemas.openxmlformats.org/officeDocument/2006/relationships/notesMaster" Target="/ppt/notesMasters/notesMaster1.xml" Id="R7a3377f77de14d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e41af813ce44aa" /><Relationship Type="http://schemas.openxmlformats.org/officeDocument/2006/relationships/notesMaster" Target="/ppt/notesMasters/notesMaster1.xml" Id="Rdf996e6ac93a4d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71a82f1e3e549a9" /><Relationship Type="http://schemas.openxmlformats.org/officeDocument/2006/relationships/notesMaster" Target="/ppt/notesMasters/notesMaster1.xml" Id="R485de5558633490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69bd1fc1e9420f" /><Relationship Type="http://schemas.openxmlformats.org/officeDocument/2006/relationships/notesMaster" Target="/ppt/notesMasters/notesMaster1.xml" Id="Re670e99e5d224f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970d0f975f4d68" /><Relationship Type="http://schemas.openxmlformats.org/officeDocument/2006/relationships/notesMaster" Target="/ppt/notesMasters/notesMaster1.xml" Id="Ra04ae5fce05f4a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2209403c5e4cd2" /><Relationship Type="http://schemas.openxmlformats.org/officeDocument/2006/relationships/notesMaster" Target="/ppt/notesMasters/notesMaster1.xml" Id="R5c8907ae279b4d7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c4e52d63ede4444" /><Relationship Type="http://schemas.openxmlformats.org/officeDocument/2006/relationships/notesMaster" Target="/ppt/notesMasters/notesMaster1.xml" Id="R675bf4921a0f4a5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23b8491e2c74066" /><Relationship Type="http://schemas.openxmlformats.org/officeDocument/2006/relationships/notesMaster" Target="/ppt/notesMasters/notesMaster1.xml" Id="Re347f5c89ccd4d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6b956245441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8a391d55e4bb4" /><Relationship Type="http://schemas.openxmlformats.org/officeDocument/2006/relationships/slideLayout" Target="/ppt/slideLayouts/slideLayout1.xml" Id="Rec2065b1d99b41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2065b1d99b41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06973eddf4101" /><Relationship Type="http://schemas.openxmlformats.org/officeDocument/2006/relationships/notesSlide" Target="/ppt/notesSlides/notesSlide1.xml" Id="R714ab6e66bff43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acf23e5de4eea" /><Relationship Type="http://schemas.openxmlformats.org/officeDocument/2006/relationships/notesSlide" Target="/ppt/notesSlides/notesSlide2.xml" Id="Rfe9872d538124e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91673ab9d4fb5" /><Relationship Type="http://schemas.openxmlformats.org/officeDocument/2006/relationships/notesSlide" Target="/ppt/notesSlides/notesSlide3.xml" Id="R632d75dff3eb42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c250e0d08a48ba" /><Relationship Type="http://schemas.openxmlformats.org/officeDocument/2006/relationships/notesSlide" Target="/ppt/notesSlides/notesSlide4.xml" Id="Rd38ccee9d64948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321e8f0404372" /><Relationship Type="http://schemas.openxmlformats.org/officeDocument/2006/relationships/notesSlide" Target="/ppt/notesSlides/notesSlide5.xml" Id="R5aad82b0c22246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c0858f70a4769" /><Relationship Type="http://schemas.openxmlformats.org/officeDocument/2006/relationships/notesSlide" Target="/ppt/notesSlides/notesSlide6.xml" Id="R5299b4270f7b48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1046d3eaa473e" /><Relationship Type="http://schemas.openxmlformats.org/officeDocument/2006/relationships/notesSlide" Target="/ppt/notesSlides/notesSlide7.xml" Id="Rc557b04fd49d4b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da1de95464793" /><Relationship Type="http://schemas.openxmlformats.org/officeDocument/2006/relationships/notesSlide" Target="/ppt/notesSlides/notesSlide8.xml" Id="Rd2a69b66880e4f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0e7e95e294776" /><Relationship Type="http://schemas.openxmlformats.org/officeDocument/2006/relationships/notesSlide" Target="/ppt/notesSlides/notesSlide9.xml" Id="R786acdf5b7e84f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ea84ccca9497e" /><Relationship Type="http://schemas.openxmlformats.org/officeDocument/2006/relationships/notesSlide" Target="/ppt/notesSlides/notesSlide10.xml" Id="Rb468742d9f9d4f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ad5778c1d4a53" /><Relationship Type="http://schemas.openxmlformats.org/officeDocument/2006/relationships/notesSlide" Target="/ppt/notesSlides/notesSlide11.xml" Id="Rd8e28683a8bc4ac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b856fa53c426f" /><Relationship Type="http://schemas.openxmlformats.org/officeDocument/2006/relationships/notesSlide" Target="/ppt/notesSlides/notesSlide12.xml" Id="Rfe0191f2d49a41b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3c321480d4079" /><Relationship Type="http://schemas.openxmlformats.org/officeDocument/2006/relationships/image" Target="/ppt/media/image.png" Id="Rfd5426fdf18a4758" /><Relationship Type="http://schemas.openxmlformats.org/officeDocument/2006/relationships/notesSlide" Target="/ppt/notesSlides/notesSlide13.xml" Id="R28bff19f59c64c9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0e0cb4d104490" /><Relationship Type="http://schemas.openxmlformats.org/officeDocument/2006/relationships/image" Target="/ppt/media/image2.png" Id="Rbe0f390951f7495e" /><Relationship Type="http://schemas.openxmlformats.org/officeDocument/2006/relationships/notesSlide" Target="/ppt/notesSlides/notesSlide14.xml" Id="Rfe3e1a3c2e7a4a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02f5c24564c62" /><Relationship Type="http://schemas.openxmlformats.org/officeDocument/2006/relationships/image" Target="/ppt/media/image3.png" Id="R12e72e43d38f4067" /><Relationship Type="http://schemas.openxmlformats.org/officeDocument/2006/relationships/notesSlide" Target="/ppt/notesSlides/notesSlide15.xml" Id="R9f8d758628934d8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b2e4470b04389" /><Relationship Type="http://schemas.openxmlformats.org/officeDocument/2006/relationships/image" Target="/ppt/media/image4.png" Id="R0b7a56d964314aae" /><Relationship Type="http://schemas.openxmlformats.org/officeDocument/2006/relationships/notesSlide" Target="/ppt/notesSlides/notesSlide16.xml" Id="R770a7c8f0f024cd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c5263c0af4007" /><Relationship Type="http://schemas.openxmlformats.org/officeDocument/2006/relationships/image" Target="/ppt/media/image5.png" Id="R410cd1c769ac4715" /><Relationship Type="http://schemas.openxmlformats.org/officeDocument/2006/relationships/notesSlide" Target="/ppt/notesSlides/notesSlide17.xml" Id="Rfe08d3f8066742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50BCC-5951-443E-A378-FD26AF5F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0AE2A9-5085-43DA-A6DB-0175D722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3143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E4801-778D-4BBC-8E6B-11097D2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"/>
            <a:ext cx="3143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AI-POWERED CAREER DECISION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5418C-75B5-46AD-867F-34C484CD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685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48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CareerX-Ray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8E998-5D96-40FE-9094-47F9BBB6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6858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Discover hidden career risks</a:t>
            </a:r>
          </a:p>
          <a:p xmlns:a="http://schemas.openxmlformats.org/drawingml/2006/main">
            <a:pPr algn="l">
              <a:defRPr sz="31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before they become career regrets.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A596C-4C19-4D11-93CC-B0C5BB6A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581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 decision intelligence platform for navigating career change with evidence, foresight, and a clear next move.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3AD27B-22E1-4087-8486-77F0C307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62000"/>
            <a:ext cx="3390900" cy="49530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6B0BC-1B20-45DF-8485-CEF1AD1A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066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CAREER SIGNAL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1C375-944C-4137-B549-EC83B5FC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1333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48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74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6743F-39C4-487B-A55E-1D55246F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95475"/>
            <a:ext cx="66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/100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296907-29F3-491D-B693-8BF2D06F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2571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4CB7ED-A470-4579-ADF7-5360AE6D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1905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9CFEB-8CE7-4057-927B-A989626C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1940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8A0271-FE7E-4B83-B083-9D7EA44B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28925"/>
            <a:ext cx="1219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F4444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EF4444"/>
                </a:solidFill>
                <a:latin typeface="Inter"/>
                <a:ea typeface="Inter"/>
                <a:cs typeface="Inter"/>
              </a:rPr>
              <a:t>4 hidden risks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2513A-C445-48C6-86E2-7F85789F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19400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F91D9E-ECD4-487C-8461-3841C064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28925"/>
            <a:ext cx="1219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6A34A"/>
                </a:solidFill>
                <a:latin typeface="Inter"/>
                <a:ea typeface="Inter"/>
                <a:cs typeface="Inter"/>
              </a:rPr>
              <a:t>3 future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84AB7-2AAA-46B0-8B3F-EB8BBFDC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Detect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67F46-5EAF-416F-85A5-E36FEFE0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4807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8F870-FA35-4BC9-8147-1519FD16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671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EE8CA-C274-4DF6-81F0-831FF30C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24250"/>
            <a:ext cx="895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Simulate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C81A7-FA12-48E1-B2BF-BF8FD37A7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648075"/>
            <a:ext cx="19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4CFF5-EAE7-4CF9-8EFD-9C586CD6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4671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60AA3D-D12E-4BF9-AA3E-0F5C604F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524250"/>
            <a:ext cx="304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D6070C-325C-4BBF-808C-A03B6436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B4FCDC-8289-414D-9D5A-6B992030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Stop guessing.</a:t>
            </a:r>
          </a:p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Start navigating.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0FC153-3DA0-4D0A-8547-0DD56939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154024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902DF9-B360-4627-8C59-3D252113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E3BDC02-72A2-4290-BE04-866F06AC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0089421-0E56-4F28-8ED2-6524D07F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F94A2-2CDA-423C-9CE2-31069F42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Career mistakes reveal themselves years after the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BE375-E94E-4AA8-9580-D33F6A8C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People rarely know a career choice is wrong while they are making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9C9330-CFAB-490F-9D42-F808BA47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3B870-8B0E-43A4-9E16-0FF69594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Switch careers?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54FA4-2BBC-4A04-96D9-E54696A6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51F89-1944-4FA6-8182-F1D8F5D9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Pursue a Master's?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CC725-4CEE-4A93-B910-1D6BFBBF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9C47D-8EEA-4A28-91D6-558BC54A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48075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Learn AI?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C81776-9CB8-4CC3-8678-B9540E30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2000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3FB0B0-B7E7-496B-A071-6DBB66BB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20002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Stay in this role?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023739-398B-441E-9A3D-F5269787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48075"/>
            <a:ext cx="7524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E6DC95-B5DE-494A-915F-9B07350A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262CD-A016-41DA-A553-A7F84649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95675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8F0447-EE4A-4B3F-AA5C-C7F154FB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95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DECISION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CD7D2-443F-479A-A416-20530D44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100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Feels reversible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9F72D-63CC-462E-A08D-D76F74F2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48075"/>
            <a:ext cx="1733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27596-245E-4B6E-82AC-DD4E149C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4671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E8F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E2E8F0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69428-64C5-4EA7-8DF2-2731993D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753FC-82B8-4840-9EB0-C3E47367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95675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F2E89D-DD01-43E0-81DB-FAC4D551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95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YEARS 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B82C7F-AC88-4473-9075-DE7268CE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100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Cost compounds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1065FF-8B79-4F56-A01B-78AF5654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48075"/>
            <a:ext cx="1733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8DB7EE-7BA9-45C1-A0C6-7C7BFCB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671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2E8F0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E2E8F0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484AAC-C781-4687-8ECF-726F4FAA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5757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5753A2-8EED-4E8E-93A8-E8A94EB4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95675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026215-551A-4031-885F-140AFB60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4444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EF4444"/>
                </a:solidFill>
                <a:latin typeface="Inter"/>
                <a:ea typeface="Inter"/>
                <a:cs typeface="Inter"/>
              </a:rPr>
              <a:t>REGRET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9CD397-8D15-44F7-8363-851E0913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100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Now obvious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48F69D-B528-448F-A33C-BC9B6782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95875"/>
            <a:ext cx="7524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03B25F-FBA2-40F2-B11B-A1794D96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86375"/>
            <a:ext cx="695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F4444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EF4444"/>
                </a:solidFill>
                <a:latin typeface="Inter"/>
                <a:ea typeface="Inter"/>
                <a:cs typeface="Inter"/>
              </a:rPr>
              <a:t>The insight arrives late. The consequences do not.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1E38E4-38EB-4BB3-857C-F39738EE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89751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14BD89-EB2A-42A8-BCAD-1E536ECD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39FC058-ABD9-44D7-82E2-713BDD76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FB52B03-433B-4041-B7EB-CBD0863B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2833A0-76C8-4DF7-A0CE-604DAA76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Career planning cannot keep pace with workforce disruption.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3DDF3-07B8-45E4-A088-14DE6B64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AI is reshaping roles faster than annual reviews, degree cycles, or traditional coaching can adapt.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B015E-C2AD-4883-B360-F9264E7B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43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22%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5DF2C-5194-4E51-B850-0B61FEE6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99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of jobs will change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BFB5D-2A31-4FBC-89F7-9E3DA47C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1472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Structural labor-market transformation expected by 2030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08B5B0-17A7-42DD-8145-8D6F367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7650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6A34A"/>
                </a:solidFill>
                <a:latin typeface="Inter"/>
                <a:ea typeface="Inter"/>
                <a:cs typeface="Inter"/>
              </a:defRPr>
            </a:pPr>
            <a:r>
              <a:rPr sz="4350" b="1">
                <a:solidFill>
                  <a:srgbClr val="16A34A"/>
                </a:solidFill>
                <a:latin typeface="Inter"/>
                <a:ea typeface="Inter"/>
                <a:cs typeface="Inter"/>
              </a:rPr>
              <a:t>170M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15BD6A-95F9-4E91-869D-229481CD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new roles created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58CA4F-A706-4CE1-96AD-30CA76CD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1472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Growth opportunities emerge in new skill clusters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4D8546-3008-4E1F-ACC2-EC997314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F4444"/>
                </a:solidFill>
                <a:latin typeface="Inter"/>
                <a:ea typeface="Inter"/>
                <a:cs typeface="Inter"/>
              </a:defRPr>
            </a:pPr>
            <a:r>
              <a:rPr sz="4350" b="1">
                <a:solidFill>
                  <a:srgbClr val="EF4444"/>
                </a:solidFill>
                <a:latin typeface="Inter"/>
                <a:ea typeface="Inter"/>
                <a:cs typeface="Inter"/>
              </a:rPr>
              <a:t>92M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6910C-9634-4BA0-86DD-637BDEC0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099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roles displaced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CF101-693A-405A-8632-4411ADF7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14725"/>
            <a:ext cx="238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Existing work is reconfigured or eliminated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937A8-90D0-49A7-B89E-0FC6A90F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62200"/>
            <a:ext cx="20859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98D95B-F635-4653-8435-F98E9BD2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47950"/>
            <a:ext cx="1657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+78M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901F41-32E3-463D-9AF9-CF1EDE78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333750"/>
            <a:ext cx="1657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A34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16A34A"/>
                </a:solidFill>
                <a:latin typeface="Inter"/>
                <a:ea typeface="Inter"/>
                <a:cs typeface="Inter"/>
              </a:rPr>
              <a:t>net jobs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598AA-475E-4193-8C5E-27F7CC44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38550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But the transition risk is personal.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5079A9-51DC-4D66-BF66-28B40809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1106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B73460-1A35-498F-B6BA-FD30F9A6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The challenge is no longer: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058120-1F58-4AFA-AEAC-7F318C32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3714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"How do I get a job?"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C91275-1231-4D91-9F1F-11369C4C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006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The challenge is: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3E5E78-B966-41CD-8DC5-777BAB38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34000"/>
            <a:ext cx="514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"How do I avoid becoming irrelevant?"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60926-9260-44D5-985A-8260ACCD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876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75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Source: World Economic Forum, The Future of Jobs Report 2025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9A9E8C-D51C-499F-8288-45184314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068203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BD0E97-6A74-46AC-BEE9-99BDD686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07A7FD6-61E6-4479-A9EF-0912AF47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887B328-7B6D-480C-8760-43DEA7C6F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MARKET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49027C-90F4-46ED-8425-E68326B3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287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Existing solutions optimize career transactions, not career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9AACD-6609-4D38-BB59-D0159032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F503A-B086-4A4D-99B1-7E7BB275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OPTIMIZES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26032-E924-43CD-90CA-504C3A63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ANSWERS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E13A4E-FE38-457A-BF9A-F1E191AA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1BF11-560A-485B-BE3C-2EFCDBD8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LinkedIn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72758-CB44-45F1-BE88-3B1F8E81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05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Networking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79D2E0-EC8B-4A7E-B3E1-FE3D092A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0505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Who can I reach?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2D84E-C147-4038-9560-41431F7D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A5236-219D-4644-A77B-33882396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JobStreet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07047-A2A1-4B4D-888F-9A7E027C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337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Job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E377D-057E-4207-B234-213BD4A0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3370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What roles are open?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1646A3-10AD-4153-9F88-4C7B0719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A902C-16F6-419D-8C1A-1A74CA48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Resume builders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258E5-0B26-44AF-81BE-5EC41511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CV creation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2C0A32-E78C-47D2-A3AF-49DD7503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How do I present myself?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91285A-3E73-48F1-80E2-7BF71B3B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53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BFF8F3-A6C0-4441-A292-152AF8D9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Career coaches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2A5E3A-FA83-4D2D-B6C1-938E3724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1910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Advice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36B30-C18A-4908-A9FF-1A4DEC23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810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What should I consider?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82646C-8F89-4FFB-A1FE-2E7C2A9D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111061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93B24F-7E9C-4660-9BA0-FBA343F5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CareerX-Ray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169271-3383-4DC2-8628-CCBC8AC4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38750"/>
            <a:ext cx="7334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Risk detection  •  Decision simulation  •  Regret prevention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C30E93-863A-4D55-8969-9A62E879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BEAFE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DBEAFE"/>
                </a:solidFill>
                <a:latin typeface="Inter"/>
                <a:ea typeface="Inter"/>
                <a:cs typeface="Inter"/>
              </a:rPr>
              <a:t>The missing intelligence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F31A47-2BB5-4566-A3C6-43A412D5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24075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F5EABF-3AEC-40DC-94D7-21BB8219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B6E9B14-17A7-4769-98B9-8F9C070F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1810D8B-2327-486B-99E6-285C0AEE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THE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180675-482B-4F7A-BAB9-21F6BDD2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CareerX-Ray turns uncertainty into a navigable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59D91-F39D-4B71-9CBE-6946A2F4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Four connected moments move a user from fragmented evidence to confident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B7750-4B1F-468C-8E3B-06F74795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AFE41-7EB1-4958-A9EA-C518D2E8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84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1B3D59-448D-4913-BB9F-216B47D16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Understand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0FC85-A41B-4590-AE42-4511C47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433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Where am I now?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F6A99-AA8B-4069-93EA-F197CCE4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AC6D00-7968-4AF7-9DEA-37171C5F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33875"/>
            <a:ext cx="933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9FDEB-C710-48ED-AEAF-BCD6A4EC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90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08B18-8402-43AD-A3AF-E90757CD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6098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D779E-0F33-4C22-AFED-09360D25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03C15A-B953-431F-BD37-AD1A1D2D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384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D87CAA-41DD-4393-AED1-54DDB4D0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86125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AFA9-C227-4ECA-95DE-AFEFF260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433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What can I not see?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A7F1E-92AF-448D-9376-57370C20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3387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D17968-FB4A-4C19-BB49-B168D3A6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3387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38A3A2-B712-4023-9C31-8F0017EE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90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4CF96-8D99-4209-B61F-694F2273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098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48444F-D381-4D29-BAE7-D3DD98A7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47290-6CAC-4F39-B55D-E796A8C0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D6C9A-A0C8-4913-981E-269EFDAC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Simulate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A87B0-F57B-4564-B17B-88B019B9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33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What happens next?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78F004-44D6-4F51-B93F-2891658B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F793BD-CDC8-4E52-A8CD-088A0BFC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33875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82A1F4-BA64-412E-B7E8-5CB494E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90825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A3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F20F81-F7D5-4509-B16B-9A6E1CD8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098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420EAC-5C2A-46B2-9C99-70F58AB6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428B30-E4F6-48F2-96D6-E8C0F1F1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3842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015F75-ABC3-4938-9F98-9A1966DC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86125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6064E5-8F8E-41EC-9DD5-6EB5E7BD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7433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What should I do?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B86906-A025-4AA4-8A60-40E3F95C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3387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F4EECD-2BF8-4DD8-BDAA-299678E6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3387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AF5C0E-468B-4199-B5C9-8216445F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11106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85A878-642E-44DA-96A1-AB3FF6D6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67325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One continuous loop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154AA9-C7B8-487E-BB74-67FF6DF8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57800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New evidence updates risk. New risk reshapes simulations. Every simulation updates the prescription.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85C56-F046-41D7-9B5F-8584BA68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01252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D0A0CED-AE2A-4636-8241-2798BF33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2CD459-E010-4292-BB38-256C6F6B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5936B3-310A-48F4-9C7E-4CBE49C3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44227C-16D4-48C4-AC5F-D0C82A97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525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Evidence powers every stage of the CareerX-Ray journey.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ADC9B-BD95-4096-A9E0-AE9B250A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857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3A237-00CB-49A4-B52D-F4F38DCA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71364-C420-49BB-8A7B-A57B7D16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3F8E9-D705-4A33-8EED-B509A4F6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240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Career X-Ray 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454D1E-DE5E-4D0E-905C-33BCD8EA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0980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Build Career DNA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C171E-2F3F-4C5E-83E9-08A544FB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57450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4966A-7B0C-47D0-8717-304DF375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4857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01521B-2F18-458C-98F5-AF304FE6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E288E-FCB1-4A50-B92F-73909972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DA7E5-F298-4934-8D53-DB11EA5A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Blind Spot 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65439-ADA7-4010-8123-F609A21C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0515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Rank hidden risks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76F40-FCFA-4EC1-AC6B-6592263D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352800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2DF7B-AC0F-4008-8862-ACB93267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857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FEEB7-AE02-4A04-90ED-57A140BF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2D5D9-B9FE-4A53-9B7B-3EA1B1CE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FDD8F5-F434-41C2-9400-932505C1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Decision 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566FD5-A3EA-4A4E-A0D1-9845C1AE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Model future paths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40583-40F4-4243-94C4-8430BFD7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28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F1418-6DBA-487B-925B-1F2ABB78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4857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0838EF-F3F0-4110-B6F5-9E18B659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AC379-402A-414A-A755-B30F2D49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426238-7C79-474A-BB75-26CA42F7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101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Career Prescription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43519-3DDA-4137-A697-45368CB7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95850"/>
            <a:ext cx="2857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Sequence action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63C268-2472-4F0E-95E1-DDD0131C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8577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F1F695-CDA6-4218-A3E6-68293036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BEAFE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BEAFE"/>
                </a:solidFill>
                <a:latin typeface="Inter"/>
                <a:ea typeface="Inter"/>
                <a:cs typeface="Inter"/>
              </a:rPr>
              <a:t>CAREER EVIDENCE ENGINE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9857BF-E308-4EB0-9493-5A025E46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52700"/>
            <a:ext cx="39052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 living foundation,</a:t>
            </a:r>
          </a:p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not a one-time questionnaire.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716A28-E38A-48EF-8067-68A84A3B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46F0A1-5A8C-4892-99E3-3DED1BC3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19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Projects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8BC1C4-5C27-423F-B21F-52D3A8AD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19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Proof of applied skill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B01C3F-2F34-44A0-8E73-63392DA1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48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7E2FD0-53DE-4BA5-B9C4-0A356B42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000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Certifications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08B4C7-9D3B-4B7D-90D0-051DB3FD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Verified capability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EB84D3-451B-4AD8-B1AA-C1D4F386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29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7E31AA-5CBB-484C-84B1-AB2C0AFD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81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Experience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6CA2F0-AA15-4019-AD54-EC624549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81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Scope and trajectory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1F95214-0565-4885-80B2-0A391BF3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10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7E26EB-FE8F-4EC5-A4F8-A9542C94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625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Achievements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DECCAC-5637-403D-A36F-836673C9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625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Signals of distinction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C6567E-2C54-4195-B5AC-6C3FF3F5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7662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5098B9-1693-45B0-84E8-2B790AF9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9A7B2E-87AE-4BFF-A1CC-7BF4CA0B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10458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C24968A-910B-46B8-BDCE-4EDB78E5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29275"/>
            <a:ext cx="10458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More evidence → better risk confidence → more credible decisions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3EF4317-0376-469C-B194-D00320E59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10520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852E8A-DDA2-4EA2-942E-2C94F4D1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CEE12B6-A3FA-46EE-BE78-FE9D475B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02F39AB-F5E8-4071-8318-4CD77B62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DIAGNOSTIC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7A6A6-DA0E-4C71-A643-7F3808BB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96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scan turns fragmented experience into a measurable Career DNA.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65150-99F5-4B11-8B40-F12699BF2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A2F49B-440D-4C07-9892-5A967472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Resume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A233D-A37D-4B36-9994-F879600D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85975"/>
            <a:ext cx="114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D8AEE-6AB4-403B-81DE-BB481239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6222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15C9B-EF89-40D4-ABDE-6B6DCC9A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Skills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E62EA9-797F-4FB2-A041-31225472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95575"/>
            <a:ext cx="1409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4F4BF-0735-4E37-B01B-C8F018ED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7182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D2B87-51A9-42EE-B443-AF88EF18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8135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7888BA-C008-4738-8B51-92E15A31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05175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2A1CE-E978-4B15-AD51-DE1AFE9C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8142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3AE5B1-17E4-4EAE-BEDD-D1E5DEC5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Projects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E2309-7988-49D0-BE4D-AC7BCA88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14775"/>
            <a:ext cx="1943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A65C0-9206-439F-9319-3A22DDBB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91025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25A874-1D99-46BC-A6C0-D6A22E6E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00550"/>
            <a:ext cx="20955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Certifications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A6870-032B-4CC7-94D6-D1B723ED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524375"/>
            <a:ext cx="2209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344F8F-4337-4F84-9E87-66B829A1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04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A3C58D-9020-4BE9-8221-BBED17E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622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BEAFE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DBEAFE"/>
                </a:solidFill>
                <a:latin typeface="Inter"/>
                <a:ea typeface="Inter"/>
                <a:cs typeface="Inter"/>
              </a:rPr>
              <a:t>CAREER DNA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44C2ED-CFB7-45D9-8BFB-E0556AD6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05125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0A505B-5283-4A4F-B9A9-1C20B89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2004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1F570-3805-40B5-84CB-6FBAE3D4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305175"/>
            <a:ext cx="781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74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13195-AA82-497D-B372-66817682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767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Career Health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F5C930-0AFC-487D-978F-1EF4C084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720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Evidence-backed profile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EB026B-37FE-4260-9199-387ADF0B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0505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847D1C-F531-4728-83C3-36DA5F2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146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780E70-C448-4106-9FBD-6F32B27B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5270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48232-F207-4BD8-A747-DF8AF884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4792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Career Profile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58225C-CB99-4FD4-A654-20558EE5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3367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Strengths, scope, velocity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058685-A813-48F2-9838-AB777887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05175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861824-79F9-48F3-A635-28682520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147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AE44DF-F920-4F8C-88E1-7B5A554F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52825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A32973-3B21-45B5-8FF4-79D3F456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48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Health Score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14823A-7E8F-4D5B-AD32-291212CD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Current career resilience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A7C3BD-A9E3-473B-9D7D-FDF68E92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05300"/>
            <a:ext cx="2857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4493CB-82FF-4DF4-B25F-AB6501B5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14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8C5A34-81A1-4ED9-B0E2-3419E0AD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52950"/>
            <a:ext cx="342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A25AA1-6C56-41B1-AFB1-83D4EBD8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48175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Risk Baseline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1A83879-1227-433B-85CA-380E047B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33925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Exposure and stagnation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4B5D6D-1763-4E3C-89BA-8158DDA6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58140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80BA96-7BC1-4DA1-B9E2-20E30DF8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00425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8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FC3D9C-3E4E-40D1-B345-305392D7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767394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2594F4-0B92-44FC-8EEF-9121022D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1BB184C-AE89-4251-A29C-3C49F71C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E98490C-7543-4702-BC9C-EEF6FEFE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RISK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1E84F-605F-453E-BEFA-EB7F36B6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47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Blind spots become actionable when impact and response are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D8B95D-D60D-4DF1-A402-52840D88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3575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025B2-2F60-4A6B-9E2D-31071384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9335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B7E54-CA28-4E47-AA23-7885AB79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33575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IF IGNORED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53249-E7FF-4BD6-803F-9CAE34A4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3357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RECOMMENDED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914D4A-8F17-4B8F-B399-0DCBBC66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11125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4C3E3-7F18-4BF9-9B14-3B2FBE7D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1A052-8A74-462A-AD9E-3CF7FE8E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4D07F7-C3AF-4735-839E-8E641D96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669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F4444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EF4444"/>
                </a:solidFill>
                <a:latin typeface="Inter"/>
                <a:ea typeface="Inter"/>
                <a:cs typeface="Inter"/>
              </a:rPr>
              <a:t>CRITICAL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1E6B7-F8C9-4F19-A265-F6BAAA15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381250"/>
            <a:ext cx="2495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AI disruption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CA17EB-CB44-45B2-9DE9-F9EB73ED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71725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Core tasks lose market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CA733-C515-47D3-8C3F-F7654FAC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71725"/>
            <a:ext cx="320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F4444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EF4444"/>
                </a:solidFill>
                <a:latin typeface="Inter"/>
                <a:ea typeface="Inter"/>
                <a:cs typeface="Inter"/>
              </a:rPr>
              <a:t>Shift toward AI oversight + applied projects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4245AB-8CD8-41D0-97A0-E11D07E0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11125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0E3B7-4A45-4A8B-81F1-F88F080C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3097D-7DB7-40B3-B4F9-48FB4A4A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1E3E3C-605B-4A0D-9083-8F9B39F0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HIGH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C401C-0455-44BB-9375-8CBFAEAD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295650"/>
            <a:ext cx="2495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Leadership gap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398BFD-6BD2-4F35-9E79-85F77C25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86125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Promotion stalls at current scope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A59D7-6625-4CE4-A531-9CD022CC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86125"/>
            <a:ext cx="320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Lead one cross-functional initiative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6308F-B0EA-4E60-B59E-94E91C24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11125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E0FC9-8D31-4FB2-829B-116A2F89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9A18E-C0AD-4C3A-B174-849FC00C5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62A0B0-34B1-44DD-8021-41CF795A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957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HIGH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DEB7F-76CE-477E-979B-6F88FA7B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10050"/>
            <a:ext cx="2495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Skill stagnation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1F3362-2543-4B05-B826-0F7A8BA2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00525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Mobility narrows over 12–18 months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C4264-8C9E-4C24-94C7-ED315DF5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00525"/>
            <a:ext cx="320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Refresh one market-facing skill cluster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472192-5527-425D-8AD3-E0FFA764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11125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62C73C-F1CF-4248-BE14-33603921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0"/>
            <a:ext cx="7620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FE90D9-1CF3-4CC5-A8D4-C935AA43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8EECB5-41A9-43D2-9950-0E476D26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0175"/>
            <a:ext cx="8763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MEDIUM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2FF38A-8B0D-49CA-A550-281810A0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24450"/>
            <a:ext cx="24955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Salary gap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50DB7-F472-47EE-8DE1-970C096D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14925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Underpayment compounds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6D8A7C-9BF4-487A-89DA-9A1A364F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14925"/>
            <a:ext cx="320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Benchmark, evidence, negotiate or move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FBE779-4E00-40DA-A1E2-FABC0898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21299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539754-4EFE-473E-9B72-75AA508B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C0BF688-EAA0-42CB-8463-CF8CB8B8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02388E0-F740-4393-AD4C-2FCE0123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DECISION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70452-1DF5-462C-A7B2-C1400180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71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See the future tradeoffs before making the commitment.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8AEB7-05B0-462D-9B7E-2C98194C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62125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Compare salary, market demand, promotion potential, and risk across multiple career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057BF-4081-41F7-BA79-085A3098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DB2EE3-D0A4-422C-8E80-3BD94361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52DED-3925-47A3-AA1E-F90C05B3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C763D-B0D6-4476-83A5-AB97FBE1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55C68-3272-417F-B3B7-70FE74F3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C046A-3448-422C-A2D0-30FE2141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02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48A79-C88B-40CC-B335-EDCD9B2D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102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Year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B5F27-1D29-49EB-926E-DBAB3476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102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Year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AFB5F2-89FB-47E3-B174-6BF6EB63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10200"/>
            <a:ext cx="76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900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Year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5C6B7-3755-4CAA-B04A-55535417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2FBBF-92D8-4832-9523-BD0EC426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667250"/>
            <a:ext cx="381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B77B9-1A42-4C65-8C20-933D1CC4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482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9EBF0-B470-4821-8A71-AEF82CA7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482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4AB5CA-B423-408E-9018-AC5F5CC3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1485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9EC511-68D4-4403-BF11-4ACD3CC8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958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F0AB6-BBFA-4AF7-8E02-24E7A7BC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4958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FA83F-C4D1-4334-8CDD-CCBB31A9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419600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CC2633-093D-47A7-8768-FCC5A096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005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CCF30-A3DE-4408-8BB8-2ACE0D5F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2A9D92-720A-46D9-92B2-FCADA97E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06914-18FF-42F7-86BF-FB3B46E2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6747CF-2F15-4588-8BA9-A324C627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B61C7F-1F03-40D8-89CE-9E5A986A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766E25-9A6B-41F7-8AA8-911833F8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381500"/>
            <a:ext cx="381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B629E2-9C17-4B78-89D8-F1417227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624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B63ED2-D785-4B3E-9AA8-E5F60C28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624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B7EAFE-227B-4154-BD0C-649F573C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867150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175DEA-7A20-41BA-9832-BF44CFEF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481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63D1AF-C2E7-4FBF-BF37-432DDED9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481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85DF47-8F9B-4D2A-BC92-86DEBFE8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099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353ED9-CAF0-4127-A012-2D66C678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909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F9A8A8-16B0-47ED-9EA9-B9A1CB06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B33A1D-37DE-4C60-BB2E-BE42F6E4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24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323644-2955-499D-9319-80B7D6E0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3CD0BE-90DB-4949-B182-681ADE7B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52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380AF6-FC3B-44A5-B211-287DA77C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9107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5C8CB9-ECB5-4DE3-9122-2530FC93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10125"/>
            <a:ext cx="38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48B50D-89D7-443B-888B-D5036CA6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863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6520DC-A86C-414E-8038-EB4D4A75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86325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64212A-D405-477D-AED7-9C3BE446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095750"/>
            <a:ext cx="381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434D58-5159-476E-AB27-22A8400B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767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E1C3DC-16B1-4441-B7F9-8594255C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767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C75797-5ECA-4C46-98D9-5E9EDF86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0045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D0387A-D61F-419A-A87E-605399A0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8140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895199D-C914-44DA-9C1E-51E9DCC4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865087-DF12-4052-B6FA-F8A4798BF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48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1D35717-7C0E-4BFD-82BE-AACBA98A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38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9B16601-A9D9-46C2-8449-AAC4FF5C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43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73A3E4-C573-4062-8C69-6FCE75BE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52675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E96D17C-91C3-4323-9FDF-5EDF9E7E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1430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75569"/>
                </a:solidFill>
                <a:latin typeface="Inter"/>
                <a:ea typeface="Inter"/>
                <a:cs typeface="Inter"/>
              </a:rPr>
              <a:t>Stay current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077718-4764-410B-AD8D-B19E6ED3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52675"/>
            <a:ext cx="1219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13F17FD-6082-46D8-BDF3-1B58A8CC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62200"/>
            <a:ext cx="1219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6A34A"/>
                </a:solidFill>
                <a:latin typeface="Inter"/>
                <a:ea typeface="Inter"/>
                <a:cs typeface="Inter"/>
              </a:rPr>
              <a:t>Move into AI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8D90472-5483-41FF-9FA7-1378C559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52675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25B1EC-17E5-49C2-AB8A-84DF66F4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62200"/>
            <a:ext cx="10477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Master's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D8D68B-634E-48B3-B7CB-DD869E48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24100"/>
            <a:ext cx="384810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E3B40A1-CB2F-476B-8C85-3ECA5CA4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6A34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6A34A"/>
                </a:solidFill>
                <a:latin typeface="Inter"/>
                <a:ea typeface="Inter"/>
                <a:cs typeface="Inter"/>
              </a:rPr>
              <a:t>MEET YOUR FUTURE SELF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4D277B2-7394-456A-97B6-D91D981A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28950"/>
            <a:ext cx="209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Future B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69AAF5-C48F-4CBE-A07D-B5096C16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You move into AI-enabled product work.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0D90EB9-1EA6-4EDB-BF1E-AE03168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624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$162k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8AE339-C5DC-4145-AE09-F1D01712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053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5-year salary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7B279A-0CBB-4F7C-9510-17AB2C79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624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6A34A"/>
                </a:solidFill>
                <a:latin typeface="Inter"/>
                <a:ea typeface="Inter"/>
                <a:cs typeface="Inter"/>
              </a:rPr>
              <a:t>Low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C2A1C96-26A6-4793-8D7A-62A441FE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7053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career risk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769522-CBF3-4C39-89E6-31AD6D1C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3624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68%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67CEA7F-D201-4526-B36D-ED766C9F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705350"/>
            <a:ext cx="95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94A3B8"/>
                </a:solidFill>
                <a:latin typeface="Inter"/>
                <a:ea typeface="Inter"/>
                <a:cs typeface="Inter"/>
              </a:rPr>
              <a:t>promotion odds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6C3943-B836-4635-94AA-34F5EEC7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62550"/>
            <a:ext cx="3028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Best long-term upside, with a 9–14 month transition investment.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6E54524-1E8E-4765-8A35-7D2A80BD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37042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DE6D3-F116-42D7-9867-41D51B44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8B14EA8-BFD6-43B0-AD2C-B7E7EDDD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A4452F-CFEA-49AC-8BF1-B3181344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PRESCRIPTION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DDAC57-A7AA-4A57-A5B6-118A6D78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1000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Insight only matters when it becomes a timed action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504D5-DF92-41BA-8B1C-B51A979A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90900"/>
            <a:ext cx="971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6869BF-F759-4F99-B493-52FD2844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09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397AD-4371-4190-A400-8299E695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13631-9A5A-4D47-95C4-CF146D2E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145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72B44-B983-4464-92BE-0BAA41F3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2407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30 DAYS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B3235-E7B2-4092-9274-D0C31E07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Build the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A668D-97D8-4CF5-8A51-46556528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AE8D01-10DB-4244-B509-5C5224E6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0050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B8C92-4A68-493E-9E5E-4FDA5E27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81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Choose AI 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8890D-59CC-4AB3-8418-4FCF54AC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B9E51E-2C5C-408B-89F1-208EC84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148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7BE913-EFA6-49B3-9945-E123B4BB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95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Start certification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5D4BC-21C7-4E24-A620-E5F19183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9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3D3D87-3FCC-498A-86F1-B461E081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1B6918-E262-4FCD-B8F1-672F38C8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145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AA970-C069-44A5-9CA7-B804DDB8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2407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90 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EC1C3D-0E25-467A-A0E0-D11430E3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336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Create the proof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15BF7-8413-428D-A287-19BEDE6B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02A7F-0948-4BC6-8785-0976CF06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BFFD21-CA48-4377-A010-8473F1E0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981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Ship portfolio project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1DA702-4FEA-459A-8D32-EBF4F848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4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22B31C-67AC-4784-83EB-5DC06526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148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F2F451-8C0D-45C2-9762-853BB958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95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Lead visible initiative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67AC4-F821-4ADB-BC95-51A21946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9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5A57D4-74F3-46AF-8D61-742E6F05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76600"/>
            <a:ext cx="419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751E0A-91AF-4874-9010-61BED9C3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14550"/>
            <a:ext cx="1066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B9244D-2BC9-4920-8DE3-24EA2DE9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24075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4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16A34A"/>
                </a:solidFill>
                <a:latin typeface="Inter"/>
                <a:ea typeface="Inter"/>
                <a:cs typeface="Inter"/>
              </a:rPr>
              <a:t>6 MONTHS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DDAE894-26A0-4924-A2F8-017DD396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266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Make the move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A6D626-D5FA-48F5-A6A5-9B840F64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AEEAA5-C575-4139-8AC0-FD230E91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6A34A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42104-1013-4CB5-9DB8-B0323B02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81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Benchmark market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86C6ED-A727-4F45-9A09-D20DDB16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552848-A80F-402C-8D2B-7A08B093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209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A34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6A34A"/>
                </a:solidFill>
                <a:latin typeface="Inter"/>
                <a:ea typeface="Inter"/>
                <a:cs typeface="Inter"/>
              </a:rPr>
              <a:t>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E203550-4D9C-4EE6-9BDB-C016C143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95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Apply or negotiate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789B9E-FED3-4A03-9D07-2C07B5A7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E4F9EF-3092-4262-8FD0-29C7CB2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Every action is ranked by risk reduction, effort, and evidence gained.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CEF610-28CB-402C-91AF-7E6982A2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8620148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5A1B39-6C35-462C-95AA-BC84B1E1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7B07652-1819-492B-B17F-01C7342D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68CD34D-94B0-4C98-B817-E51B35AE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DIFFERENTIATION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29197-3CB7-4196-A3A7-B0D72C98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90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The category shift: from finding jobs to navigating careers.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FACCF-A4AC-4F8C-B1E6-6C44216A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4953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A4D59-869B-4BCE-8C35-FFAF520C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CURRENT PLATFORMS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9F9FF-3210-482C-8DF2-181EC31C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333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Help users</a:t>
            </a:r>
          </a:p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find jobs.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38B66-457A-4953-8034-E6D6F2B87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C9C835-4B04-4604-A549-8E1D49FB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Job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9D2D2-1D2B-4009-978D-EBBC00B3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64804-E8DD-429C-9055-3104ACA2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Reactive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0FC32-7F0B-47E2-BE8C-92932CFC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71850"/>
            <a:ext cx="57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48DA3-44F9-4CB2-BC3B-66F523661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52625"/>
            <a:ext cx="497205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2D544-D1A0-46D0-B5DC-4CFB5810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669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BEAFE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DBEAFE"/>
                </a:solidFill>
                <a:latin typeface="Inter"/>
                <a:ea typeface="Inter"/>
                <a:cs typeface="Inter"/>
              </a:rPr>
              <a:t>CAREERX-RAY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E5588-1EED-47B3-B5A6-A0DD7B4C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3905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Helps users make</a:t>
            </a:r>
          </a:p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better decisions.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FBBEEC-12F5-48B4-8E6A-B8D941F2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05250"/>
            <a:ext cx="3714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C1C4C-D12E-465E-BB5A-0F9A5FF6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100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Career navigation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AA94D9-F7D0-4D74-995D-4C148B78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291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Decision intelligence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C1225A-B9D4-4321-B31B-A8D5CEA8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482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A34A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6A34A"/>
                </a:solidFill>
                <a:latin typeface="Inter"/>
                <a:ea typeface="Inter"/>
                <a:cs typeface="Inter"/>
              </a:rPr>
              <a:t>Predictive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92BE5-D1F8-4C72-8E67-97021EDD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01936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47B931-46CB-4B7B-BE94-689C7AFC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D9320-5581-4549-A74A-E0D4AACF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8001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66B6C-F7A3-46F4-92D9-4C04BBAB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3875"/>
            <a:ext cx="8001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BEAFE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DBEAFE"/>
                </a:solidFill>
                <a:latin typeface="Inter"/>
                <a:ea typeface="Inter"/>
                <a:cs typeface="Inter"/>
              </a:rPr>
              <a:t>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F3B47-32E2-459A-BCF5-42FE231C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8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Stop Guessing.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65A75-69B0-4FC9-B977-81B70ACC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33650"/>
            <a:ext cx="762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4800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Start Navigating.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77BD7-A4C1-4E5D-A64B-189450C2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3857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26999-B7DF-4CF6-A021-6C0FDAE5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7429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BD5E1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CBD5E1"/>
                </a:solidFill>
                <a:latin typeface="Inter"/>
                <a:ea typeface="Inter"/>
                <a:cs typeface="Inter"/>
              </a:rPr>
              <a:t>CareerX-Ray aims to become the decision intelligence layer of the future Career 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5DC21-E3CF-420D-9178-4496C245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381125"/>
            <a:ext cx="2381250" cy="3714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9525">
            <a:solidFill>
              <a:srgbClr val="1E3A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3C863D-913C-48C9-B824-05B73264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95450"/>
            <a:ext cx="1771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BEAFE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DBEAFE"/>
                </a:solidFill>
                <a:latin typeface="Inter"/>
                <a:ea typeface="Inter"/>
                <a:cs typeface="Inter"/>
              </a:rPr>
              <a:t>CAREER 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F0235D-44A3-476C-B51F-621E6E3C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09800"/>
            <a:ext cx="1771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2593DF-54AB-4633-AD36-77CFA1F0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669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88D53-3789-43A7-BAAA-8367FAB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1771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9C794-E000-40FA-9C25-3C63E23F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765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93572-9BF6-4B3B-BE38-51C00AC6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1771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6A1D0-14EC-4C57-9CEE-D7522773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Simulation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D52E1-D0D5-4F8A-B7A5-EAEC534E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17716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25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0A98B-9B9A-4AC2-ACAB-82BD32BA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6CFC4-8512-453C-B6B8-79B7321D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24625"/>
            <a:ext cx="304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443361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223B85-6BBB-44C2-881F-004FE2D7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885EB-159F-4038-830D-01A72E8C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432D0-E1EB-4811-8938-EB766463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PRODUCT 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0EACF-1085-4DF6-9DA6-0B876A48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Landing Page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7D8AD6-DB1A-4F6C-9259-7ED3268E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2450"/>
            <a:ext cx="433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Career risk made tangible at first glance.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1134D-3C4D-4D35-873A-46E581EC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541020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3BC27-9E56-48FD-93CA-8DFC4166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3CCA4-11A1-4BFC-9D5F-580721BC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E1A614-93FE-4540-8E4E-1AD6960C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5426fdf18a4758"/>
          <a:stretch xmlns:a="http://schemas.openxmlformats.org/drawingml/2006/main"/>
        </p:blipFill>
        <p:spPr>
          <a:xfrm xmlns:a="http://schemas.openxmlformats.org/drawingml/2006/main">
            <a:off x="1761067" y="1447800"/>
            <a:ext cx="8669867" cy="4876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32AC9A-6096-4FAC-AF9A-96880436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72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9446172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E9B340-A297-4755-814A-A7492257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EED71-1A01-46B3-A4B3-2933C223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73110-FFC4-4792-9AD9-C2CD55E3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PRODUCT 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46CB50-6CAB-4107-9317-7137F71A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Career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1C4FFB-5CFA-4755-AEF7-A5E109E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2450"/>
            <a:ext cx="433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 single view of health, exposure, salary, and readiness.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26718-3A75-451F-AC78-ED67CF8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541020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921F4-C901-4CBA-A763-5C8D0B7A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4801D6-32D7-460A-998C-2E4B9579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E403B-0D8B-432B-B973-70278D88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f390951f7495e"/>
          <a:stretch xmlns:a="http://schemas.openxmlformats.org/drawingml/2006/main"/>
        </p:blipFill>
        <p:spPr>
          <a:xfrm xmlns:a="http://schemas.openxmlformats.org/drawingml/2006/main">
            <a:off x="1761067" y="1447800"/>
            <a:ext cx="8669867" cy="4876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0C38F-77C5-45CB-8551-504C9386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72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8664064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CAFB7D-E0B8-4C9C-A4FF-C49F2002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EFD95-F830-4E6F-8941-C7094F6D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D994E-9884-43BB-8C27-B5E21419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PRODUCT 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9048C-B0E6-499B-8000-868EA312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Blind Spot Detection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864ADB-E92E-4DEE-BBBC-99317F0A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2450"/>
            <a:ext cx="433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Risks ranked by severity, evidence, and next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BCB02E-9E3D-4798-A1F5-0D0CE6C9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541020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62909-FEB0-4742-9F0E-5C848C8E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956BE-4FB2-4496-BF31-EB3C9F13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5A74F-526B-4F92-8D27-A20665DC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72e43d38f4067"/>
          <a:stretch xmlns:a="http://schemas.openxmlformats.org/drawingml/2006/main"/>
        </p:blipFill>
        <p:spPr>
          <a:xfrm xmlns:a="http://schemas.openxmlformats.org/drawingml/2006/main">
            <a:off x="1761067" y="1447800"/>
            <a:ext cx="8669867" cy="4876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E470E-8FDD-47A5-BF0B-82C2078A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72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2014751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0132A7-EED8-410D-8E4D-8BB3CC3A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CE180-D866-4763-99EF-7C9850AB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1F955-5BD9-4A7F-AB10-601A8ECFC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PRODUCT 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FDF18-0FB1-428D-8C3E-2A4FA574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Decision Lab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47919-A075-4FA0-B65E-AEE84381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2450"/>
            <a:ext cx="433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Three futures compared before the user commits.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E04AB-7A49-4AC5-8829-894BE18A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541020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92FF9-F9A2-4570-B1CE-F0BC1085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F74862-1589-4C51-B7CD-26F0E4F8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6D4F2-B80E-47C3-B12E-E7CCF8B1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a56d964314aae"/>
          <a:stretch xmlns:a="http://schemas.openxmlformats.org/drawingml/2006/main"/>
        </p:blipFill>
        <p:spPr>
          <a:xfrm xmlns:a="http://schemas.openxmlformats.org/drawingml/2006/main">
            <a:off x="1761067" y="1447800"/>
            <a:ext cx="8669867" cy="4876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D5EB55-4C72-4FFE-A646-9419B324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72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5753247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1CBC6-432F-4287-8F3A-755B185E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3894A-3EFB-44E2-8259-A1645FF3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5C96D-05BE-40A7-B708-FE7A2BDB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563EB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2563EB"/>
                </a:solidFill>
                <a:latin typeface="Inter"/>
                <a:ea typeface="Inter"/>
                <a:cs typeface="Inter"/>
              </a:rPr>
              <a:t>PRODUCT APPENDIX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80DE9-CFE7-4A75-9F59-F7E46FD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"/>
            <a:ext cx="666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Inter"/>
                <a:ea typeface="Inter"/>
                <a:cs typeface="Inter"/>
              </a:defRPr>
            </a:pPr>
            <a:r>
              <a:rPr sz="2250" b="1">
                <a:solidFill>
                  <a:srgbClr val="0F172A"/>
                </a:solidFill>
                <a:latin typeface="Inter"/>
                <a:ea typeface="Inter"/>
                <a:cs typeface="Inter"/>
              </a:rPr>
              <a:t>Career Prescription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38CDA-659C-43F0-897D-C7DB8098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52450"/>
            <a:ext cx="43338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75569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475569"/>
                </a:solidFill>
                <a:latin typeface="Inter"/>
                <a:ea typeface="Inter"/>
                <a:cs typeface="Inter"/>
              </a:rPr>
              <a:t>A prioritized roadmap from insight to measurable progress.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BDFD1-A6C6-4EE2-93D1-8E22C6E0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541020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1E356-E042-4DFC-A8F8-B69D5569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3FAF0-7EC8-4741-A410-45596DE8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7A1D1-7535-45E8-B57D-440E0D92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19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cd1c769ac4715"/>
          <a:stretch xmlns:a="http://schemas.openxmlformats.org/drawingml/2006/main"/>
        </p:blipFill>
        <p:spPr>
          <a:xfrm xmlns:a="http://schemas.openxmlformats.org/drawingml/2006/main">
            <a:off x="1761067" y="1447800"/>
            <a:ext cx="8669867" cy="4876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AF58E6-5997-4F95-BED4-6D75C9AE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572250"/>
            <a:ext cx="304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94A3B8"/>
                </a:solidFill>
                <a:latin typeface="Inter"/>
                <a:ea typeface="Inter"/>
                <a:cs typeface="Inter"/>
              </a:defRPr>
            </a:pPr>
            <a:r>
              <a:rPr sz="750" b="1">
                <a:solidFill>
                  <a:srgbClr val="94A3B8"/>
                </a:solidFill>
                <a:latin typeface="Inter"/>
                <a:ea typeface="Inter"/>
                <a:cs typeface="Inter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86896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2026-06-14T14:32:23.5300000Z</dcterms:created>
  <dcterms:modified xsi:type="dcterms:W3CDTF">2026-06-14T14:32:23.5300000Z</dcterms:modified>
</coreProperties>
</file>